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4630400" cy="8229600"/>
  <p:notesSz cx="8229600" cy="14630400"/>
  <p:embeddedFontLst>
    <p:embeddedFont>
      <p:font typeface="Source Sans 3" panose="020B0604020202020204" charset="0"/>
      <p:regular r:id="rId1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66" d="100"/>
          <a:sy n="66" d="100"/>
        </p:scale>
        <p:origin x="140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083300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ED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ED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ED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ED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ED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ED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ED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ED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8.svg"/><Relationship Id="rId7" Type="http://schemas.openxmlformats.org/officeDocument/2006/relationships/image" Target="../media/image12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svg"/><Relationship Id="rId5" Type="http://schemas.openxmlformats.org/officeDocument/2006/relationships/image" Target="../media/image10.svg"/><Relationship Id="rId10" Type="http://schemas.openxmlformats.org/officeDocument/2006/relationships/image" Target="../media/image3.png"/><Relationship Id="rId4" Type="http://schemas.openxmlformats.org/officeDocument/2006/relationships/image" Target="../media/image9.svg"/><Relationship Id="rId9" Type="http://schemas.openxmlformats.org/officeDocument/2006/relationships/image" Target="../media/image14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798" y="715923"/>
            <a:ext cx="12902803" cy="174724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533299" y="3804880"/>
            <a:ext cx="7563803" cy="701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500"/>
              </a:lnSpc>
              <a:buNone/>
            </a:pPr>
            <a:r>
              <a:rPr lang="en-US" sz="44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Hotel Reservation System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863798" y="4876324"/>
            <a:ext cx="12902803" cy="20923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b="1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Subject:</a:t>
            </a: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Programming with Java (PWJ)</a:t>
            </a:r>
          </a:p>
          <a:p>
            <a:pPr>
              <a:lnSpc>
                <a:spcPts val="2900"/>
              </a:lnSpc>
            </a:pPr>
            <a:r>
              <a:rPr lang="en-US" sz="1900" b="1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Name:</a:t>
            </a: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Bhavya N Patel</a:t>
            </a:r>
          </a:p>
          <a:p>
            <a:pPr>
              <a:lnSpc>
                <a:spcPts val="2900"/>
              </a:lnSpc>
            </a:pPr>
            <a:r>
              <a:rPr lang="en-US" sz="1900" b="1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Enrollment No:</a:t>
            </a: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124020806010</a:t>
            </a:r>
            <a:r>
              <a:rPr lang="en-US" sz="1900" b="1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18</a:t>
            </a:r>
          </a:p>
          <a:p>
            <a:pPr>
              <a:lnSpc>
                <a:spcPts val="2900"/>
              </a:lnSpc>
            </a:pPr>
            <a:r>
              <a:rPr lang="en-US" sz="1900" b="1" dirty="0">
                <a:solidFill>
                  <a:srgbClr val="3D3838"/>
                </a:solidFill>
                <a:latin typeface="Source Sans 3" pitchFamily="34" charset="0"/>
              </a:rPr>
              <a:t>Class: IT-A</a:t>
            </a:r>
            <a:endParaRPr lang="en-US" sz="1900" dirty="0"/>
          </a:p>
          <a:p>
            <a:pPr>
              <a:lnSpc>
                <a:spcPts val="2900"/>
              </a:lnSpc>
            </a:pPr>
            <a:endParaRPr lang="en-US" sz="1900" dirty="0">
              <a:solidFill>
                <a:srgbClr val="3D3838"/>
              </a:solidFill>
              <a:latin typeface="Source Sans 3" pitchFamily="34" charset="0"/>
              <a:ea typeface="Source Sans 3" pitchFamily="34" charset="-122"/>
              <a:cs typeface="Source Sans 3" pitchFamily="34" charset="-120"/>
            </a:endParaRPr>
          </a:p>
          <a:p>
            <a:pPr marL="0" indent="0" algn="l">
              <a:lnSpc>
                <a:spcPts val="2900"/>
              </a:lnSpc>
              <a:buNone/>
            </a:pPr>
            <a:endParaRPr lang="en-US" sz="1900" dirty="0">
              <a:solidFill>
                <a:srgbClr val="3D3838"/>
              </a:solidFill>
              <a:latin typeface="Source Sans 3" pitchFamily="34" charset="0"/>
              <a:ea typeface="Source Sans 3" pitchFamily="34" charset="-122"/>
              <a:cs typeface="Source Sans 3" pitchFamily="34" charset="-120"/>
            </a:endParaRPr>
          </a:p>
          <a:p>
            <a:pPr marL="0" indent="0" algn="l">
              <a:lnSpc>
                <a:spcPts val="2900"/>
              </a:lnSpc>
              <a:buNone/>
            </a:pPr>
            <a:endParaRPr lang="en-US" sz="19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69D6E3A-6A73-5F1D-4E53-AF7640B7C8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20851" y="7707218"/>
            <a:ext cx="1749067" cy="41912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3798" y="1227534"/>
            <a:ext cx="5609749" cy="701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Introduction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863798" y="2027515"/>
            <a:ext cx="3649742" cy="4206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What is this project?</a:t>
            </a:r>
            <a:endParaRPr lang="en-US" sz="2650" dirty="0"/>
          </a:p>
        </p:txBody>
      </p:sp>
      <p:sp>
        <p:nvSpPr>
          <p:cNvPr id="4" name="Text 2"/>
          <p:cNvSpPr/>
          <p:nvPr/>
        </p:nvSpPr>
        <p:spPr>
          <a:xfrm>
            <a:off x="863798" y="2818328"/>
            <a:ext cx="12902803" cy="21961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900"/>
              </a:lnSpc>
              <a:buSzPct val="100000"/>
              <a:buChar char="•"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 software system to manage hotel room bookings</a:t>
            </a:r>
            <a:endParaRPr lang="en-US" sz="1900" dirty="0"/>
          </a:p>
          <a:p>
            <a:pPr marL="342900" indent="-342900" algn="l">
              <a:lnSpc>
                <a:spcPts val="2900"/>
              </a:lnSpc>
              <a:buSzPct val="100000"/>
              <a:buChar char="•"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Allows users to:</a:t>
            </a:r>
            <a:endParaRPr lang="en-US" sz="1900" dirty="0"/>
          </a:p>
          <a:p>
            <a:pPr marL="685800" lvl="1" indent="-342900" algn="l">
              <a:lnSpc>
                <a:spcPts val="2900"/>
              </a:lnSpc>
              <a:buSzPct val="100000"/>
              <a:buChar char="◦"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Book rooms</a:t>
            </a:r>
            <a:endParaRPr lang="en-US" sz="1900" dirty="0"/>
          </a:p>
          <a:p>
            <a:pPr marL="685800" lvl="1" indent="-342900" algn="l">
              <a:lnSpc>
                <a:spcPts val="2900"/>
              </a:lnSpc>
              <a:buSzPct val="100000"/>
              <a:buChar char="◦"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Cancel bookings</a:t>
            </a:r>
            <a:endParaRPr lang="en-US" sz="1900" dirty="0"/>
          </a:p>
          <a:p>
            <a:pPr marL="685800" lvl="1" indent="-342900" algn="l">
              <a:lnSpc>
                <a:spcPts val="2900"/>
              </a:lnSpc>
              <a:buSzPct val="100000"/>
              <a:buChar char="◦"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Check availability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863798" y="5384602"/>
            <a:ext cx="3365778" cy="4206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Purpose:</a:t>
            </a:r>
            <a:endParaRPr lang="en-US" sz="2650" dirty="0"/>
          </a:p>
        </p:txBody>
      </p:sp>
      <p:sp>
        <p:nvSpPr>
          <p:cNvPr id="6" name="Text 4"/>
          <p:cNvSpPr/>
          <p:nvPr/>
        </p:nvSpPr>
        <p:spPr>
          <a:xfrm>
            <a:off x="863798" y="6175415"/>
            <a:ext cx="12902803" cy="8266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900"/>
              </a:lnSpc>
              <a:buSzPct val="100000"/>
              <a:buChar char="•"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To simulate real-world hotel management</a:t>
            </a:r>
            <a:endParaRPr lang="en-US" sz="1900" dirty="0"/>
          </a:p>
          <a:p>
            <a:pPr marL="342900" indent="-342900" algn="l">
              <a:lnSpc>
                <a:spcPts val="2900"/>
              </a:lnSpc>
              <a:buSzPct val="100000"/>
              <a:buChar char="•"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To apply Java programming concepts practically</a:t>
            </a:r>
            <a:endParaRPr lang="en-US" sz="19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D7F1F62-94B0-69BC-E098-2EEC84581E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20851" y="7707218"/>
            <a:ext cx="1749067" cy="41912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3798" y="2001083"/>
            <a:ext cx="5609749" cy="701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Objective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863798" y="2801064"/>
            <a:ext cx="3365778" cy="4206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Main Objectives:</a:t>
            </a:r>
            <a:endParaRPr lang="en-US" sz="2650" dirty="0"/>
          </a:p>
        </p:txBody>
      </p:sp>
      <p:sp>
        <p:nvSpPr>
          <p:cNvPr id="4" name="Shape 2"/>
          <p:cNvSpPr/>
          <p:nvPr/>
        </p:nvSpPr>
        <p:spPr>
          <a:xfrm>
            <a:off x="863798" y="3591878"/>
            <a:ext cx="6327934" cy="1194911"/>
          </a:xfrm>
          <a:prstGeom prst="roundRect">
            <a:avLst>
              <a:gd name="adj" fmla="val 3099"/>
            </a:avLst>
          </a:prstGeom>
          <a:solidFill>
            <a:srgbClr val="F2EEEE"/>
          </a:solidFill>
          <a:ln/>
        </p:spPr>
      </p:sp>
      <p:sp>
        <p:nvSpPr>
          <p:cNvPr id="5" name="Text 3"/>
          <p:cNvSpPr/>
          <p:nvPr/>
        </p:nvSpPr>
        <p:spPr>
          <a:xfrm>
            <a:off x="1110615" y="3838694"/>
            <a:ext cx="5834301" cy="701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Develop a hotel reservation system using Java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438549" y="3591878"/>
            <a:ext cx="6328053" cy="1194911"/>
          </a:xfrm>
          <a:prstGeom prst="roundRect">
            <a:avLst>
              <a:gd name="adj" fmla="val 3099"/>
            </a:avLst>
          </a:prstGeom>
          <a:solidFill>
            <a:srgbClr val="F2EEEE"/>
          </a:solidFill>
          <a:ln/>
        </p:spPr>
      </p:sp>
      <p:sp>
        <p:nvSpPr>
          <p:cNvPr id="7" name="Text 5"/>
          <p:cNvSpPr/>
          <p:nvPr/>
        </p:nvSpPr>
        <p:spPr>
          <a:xfrm>
            <a:off x="7685365" y="3838694"/>
            <a:ext cx="5834420" cy="701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Implement Object-Oriented Programming concepts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863798" y="5033605"/>
            <a:ext cx="6327934" cy="1194911"/>
          </a:xfrm>
          <a:prstGeom prst="roundRect">
            <a:avLst>
              <a:gd name="adj" fmla="val 3099"/>
            </a:avLst>
          </a:prstGeom>
          <a:solidFill>
            <a:srgbClr val="F2EEEE"/>
          </a:solidFill>
          <a:ln/>
        </p:spPr>
      </p:sp>
      <p:sp>
        <p:nvSpPr>
          <p:cNvPr id="9" name="Text 7"/>
          <p:cNvSpPr/>
          <p:nvPr/>
        </p:nvSpPr>
        <p:spPr>
          <a:xfrm>
            <a:off x="1110615" y="5280422"/>
            <a:ext cx="4035981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Manage booking efficiently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7438549" y="5033605"/>
            <a:ext cx="6328053" cy="1194911"/>
          </a:xfrm>
          <a:prstGeom prst="roundRect">
            <a:avLst>
              <a:gd name="adj" fmla="val 3099"/>
            </a:avLst>
          </a:prstGeom>
          <a:solidFill>
            <a:srgbClr val="F2EEEE"/>
          </a:solidFill>
          <a:ln/>
        </p:spPr>
      </p:sp>
      <p:sp>
        <p:nvSpPr>
          <p:cNvPr id="11" name="Text 9"/>
          <p:cNvSpPr/>
          <p:nvPr/>
        </p:nvSpPr>
        <p:spPr>
          <a:xfrm>
            <a:off x="7685365" y="5280422"/>
            <a:ext cx="5834420" cy="701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Handle multiple users and booking conflicts</a:t>
            </a:r>
            <a:endParaRPr lang="en-US" sz="22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EB739B4-642A-C1DA-92E6-CF083FF795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20851" y="7707218"/>
            <a:ext cx="1749067" cy="41912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3798" y="1539359"/>
            <a:ext cx="5609749" cy="701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Features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863798" y="2339340"/>
            <a:ext cx="3365778" cy="4206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Key Features:</a:t>
            </a:r>
            <a:endParaRPr lang="en-US" sz="2650" dirty="0"/>
          </a:p>
        </p:txBody>
      </p:sp>
      <p:sp>
        <p:nvSpPr>
          <p:cNvPr id="4" name="Shape 2"/>
          <p:cNvSpPr/>
          <p:nvPr/>
        </p:nvSpPr>
        <p:spPr>
          <a:xfrm>
            <a:off x="863798" y="3130153"/>
            <a:ext cx="6327934" cy="905232"/>
          </a:xfrm>
          <a:prstGeom prst="roundRect">
            <a:avLst>
              <a:gd name="adj" fmla="val 16162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33318" y="3130153"/>
            <a:ext cx="121920" cy="905232"/>
          </a:xfrm>
          <a:prstGeom prst="roundRect">
            <a:avLst>
              <a:gd name="adj" fmla="val 30368"/>
            </a:avLst>
          </a:prstGeom>
          <a:solidFill>
            <a:srgbClr val="2D2E34"/>
          </a:solidFill>
          <a:ln/>
        </p:spPr>
      </p:sp>
      <p:sp>
        <p:nvSpPr>
          <p:cNvPr id="6" name="Text 4"/>
          <p:cNvSpPr/>
          <p:nvPr/>
        </p:nvSpPr>
        <p:spPr>
          <a:xfrm>
            <a:off x="1232535" y="3407450"/>
            <a:ext cx="3297793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Room booking system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7438549" y="3130153"/>
            <a:ext cx="6328053" cy="905232"/>
          </a:xfrm>
          <a:prstGeom prst="roundRect">
            <a:avLst>
              <a:gd name="adj" fmla="val 16162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408069" y="3130153"/>
            <a:ext cx="121920" cy="905232"/>
          </a:xfrm>
          <a:prstGeom prst="roundRect">
            <a:avLst>
              <a:gd name="adj" fmla="val 30368"/>
            </a:avLst>
          </a:prstGeom>
          <a:solidFill>
            <a:srgbClr val="2D2E34"/>
          </a:solidFill>
          <a:ln/>
        </p:spPr>
      </p:sp>
      <p:sp>
        <p:nvSpPr>
          <p:cNvPr id="9" name="Text 7"/>
          <p:cNvSpPr/>
          <p:nvPr/>
        </p:nvSpPr>
        <p:spPr>
          <a:xfrm>
            <a:off x="7807285" y="3407450"/>
            <a:ext cx="4100274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Cancellation of reservations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863798" y="4282202"/>
            <a:ext cx="6327934" cy="1255871"/>
          </a:xfrm>
          <a:prstGeom prst="roundRect">
            <a:avLst>
              <a:gd name="adj" fmla="val 11650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33318" y="4282202"/>
            <a:ext cx="121920" cy="1255871"/>
          </a:xfrm>
          <a:prstGeom prst="roundRect">
            <a:avLst>
              <a:gd name="adj" fmla="val 30368"/>
            </a:avLst>
          </a:prstGeom>
          <a:solidFill>
            <a:srgbClr val="2D2E34"/>
          </a:solidFill>
          <a:ln/>
        </p:spPr>
      </p:sp>
      <p:sp>
        <p:nvSpPr>
          <p:cNvPr id="12" name="Text 10"/>
          <p:cNvSpPr/>
          <p:nvPr/>
        </p:nvSpPr>
        <p:spPr>
          <a:xfrm>
            <a:off x="1232535" y="4559498"/>
            <a:ext cx="3962519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Room availability checking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7438549" y="4282202"/>
            <a:ext cx="6328053" cy="1255871"/>
          </a:xfrm>
          <a:prstGeom prst="roundRect">
            <a:avLst>
              <a:gd name="adj" fmla="val 11650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408069" y="4282202"/>
            <a:ext cx="121920" cy="1255871"/>
          </a:xfrm>
          <a:prstGeom prst="roundRect">
            <a:avLst>
              <a:gd name="adj" fmla="val 30368"/>
            </a:avLst>
          </a:prstGeom>
          <a:solidFill>
            <a:srgbClr val="2D2E34"/>
          </a:solidFill>
          <a:ln/>
        </p:spPr>
      </p:sp>
      <p:sp>
        <p:nvSpPr>
          <p:cNvPr id="15" name="Text 13"/>
          <p:cNvSpPr/>
          <p:nvPr/>
        </p:nvSpPr>
        <p:spPr>
          <a:xfrm>
            <a:off x="7807285" y="4559498"/>
            <a:ext cx="5682020" cy="701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Multiple room types (Single, Double, Suite)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863798" y="5784890"/>
            <a:ext cx="6327934" cy="905232"/>
          </a:xfrm>
          <a:prstGeom prst="roundRect">
            <a:avLst>
              <a:gd name="adj" fmla="val 16162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33318" y="5784890"/>
            <a:ext cx="121920" cy="905232"/>
          </a:xfrm>
          <a:prstGeom prst="roundRect">
            <a:avLst>
              <a:gd name="adj" fmla="val 30368"/>
            </a:avLst>
          </a:prstGeom>
          <a:solidFill>
            <a:srgbClr val="2D2E34"/>
          </a:solidFill>
          <a:ln/>
        </p:spPr>
      </p:sp>
      <p:sp>
        <p:nvSpPr>
          <p:cNvPr id="18" name="Text 16"/>
          <p:cNvSpPr/>
          <p:nvPr/>
        </p:nvSpPr>
        <p:spPr>
          <a:xfrm>
            <a:off x="1232535" y="6062186"/>
            <a:ext cx="3081338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Waitlist using Queue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7438549" y="5784890"/>
            <a:ext cx="6328053" cy="905232"/>
          </a:xfrm>
          <a:prstGeom prst="roundRect">
            <a:avLst>
              <a:gd name="adj" fmla="val 16162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408069" y="5784890"/>
            <a:ext cx="121920" cy="905232"/>
          </a:xfrm>
          <a:prstGeom prst="roundRect">
            <a:avLst>
              <a:gd name="adj" fmla="val 30368"/>
            </a:avLst>
          </a:prstGeom>
          <a:solidFill>
            <a:srgbClr val="2D2E34"/>
          </a:solidFill>
          <a:ln/>
        </p:spPr>
      </p:sp>
      <p:sp>
        <p:nvSpPr>
          <p:cNvPr id="21" name="Text 19"/>
          <p:cNvSpPr/>
          <p:nvPr/>
        </p:nvSpPr>
        <p:spPr>
          <a:xfrm>
            <a:off x="7807285" y="6062186"/>
            <a:ext cx="4562356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Data saving using file handling</a:t>
            </a:r>
            <a:endParaRPr lang="en-US" sz="2200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E32DAEB9-6B09-0E22-3A98-09656849E4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20851" y="7707218"/>
            <a:ext cx="1749067" cy="41912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3798" y="777954"/>
            <a:ext cx="6018609" cy="701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System Architecture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863798" y="1577935"/>
            <a:ext cx="3365778" cy="4206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Working Flow:</a:t>
            </a:r>
            <a:endParaRPr lang="en-US" sz="26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798" y="2368748"/>
            <a:ext cx="3225641" cy="98726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10615" y="3602831"/>
            <a:ext cx="2732008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User</a:t>
            </a:r>
            <a:endParaRPr lang="en-US" sz="22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89440" y="2368748"/>
            <a:ext cx="3225760" cy="98726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336256" y="3602831"/>
            <a:ext cx="2732127" cy="701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Reservation Manager</a:t>
            </a:r>
            <a:endParaRPr lang="en-US" sz="22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0" y="2368748"/>
            <a:ext cx="3225641" cy="987266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7562017" y="3602831"/>
            <a:ext cx="2732008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Room Classes</a:t>
            </a:r>
            <a:endParaRPr lang="en-US" sz="22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40841" y="2368748"/>
            <a:ext cx="3225760" cy="987266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0787658" y="3602831"/>
            <a:ext cx="2732127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File Storage</a:t>
            </a:r>
            <a:endParaRPr lang="en-US" sz="2200" dirty="0"/>
          </a:p>
        </p:txBody>
      </p:sp>
      <p:sp>
        <p:nvSpPr>
          <p:cNvPr id="12" name="Text 6"/>
          <p:cNvSpPr/>
          <p:nvPr/>
        </p:nvSpPr>
        <p:spPr>
          <a:xfrm>
            <a:off x="863798" y="4921091"/>
            <a:ext cx="3365778" cy="4206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Explanation:</a:t>
            </a:r>
            <a:endParaRPr lang="en-US" sz="2650" dirty="0"/>
          </a:p>
        </p:txBody>
      </p:sp>
      <p:sp>
        <p:nvSpPr>
          <p:cNvPr id="13" name="Text 7"/>
          <p:cNvSpPr/>
          <p:nvPr/>
        </p:nvSpPr>
        <p:spPr>
          <a:xfrm>
            <a:off x="863798" y="5711904"/>
            <a:ext cx="12902803" cy="17396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900"/>
              </a:lnSpc>
              <a:buSzPct val="100000"/>
              <a:buChar char="•"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User interacts with system</a:t>
            </a:r>
            <a:endParaRPr lang="en-US" sz="1900" dirty="0"/>
          </a:p>
          <a:p>
            <a:pPr marL="342900" indent="-342900" algn="l">
              <a:lnSpc>
                <a:spcPts val="2900"/>
              </a:lnSpc>
              <a:buSzPct val="100000"/>
              <a:buChar char="•"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Manager handles operations</a:t>
            </a:r>
            <a:endParaRPr lang="en-US" sz="1900" dirty="0"/>
          </a:p>
          <a:p>
            <a:pPr marL="342900" indent="-342900" algn="l">
              <a:lnSpc>
                <a:spcPts val="2900"/>
              </a:lnSpc>
              <a:buSzPct val="100000"/>
              <a:buChar char="•"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Rooms store data</a:t>
            </a:r>
            <a:endParaRPr lang="en-US" sz="1900" dirty="0"/>
          </a:p>
          <a:p>
            <a:pPr marL="342900" indent="-342900" algn="l">
              <a:lnSpc>
                <a:spcPts val="2900"/>
              </a:lnSpc>
              <a:buSzPct val="100000"/>
              <a:buChar char="•"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File saves data permanently</a:t>
            </a:r>
            <a:endParaRPr lang="en-US" sz="190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224DE6FE-45D2-52A0-CFCF-360019C8CA8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820851" y="7707218"/>
            <a:ext cx="1749067" cy="41912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37736" y="828318"/>
            <a:ext cx="4621292" cy="5775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500"/>
              </a:lnSpc>
              <a:buNone/>
            </a:pPr>
            <a:r>
              <a:rPr lang="en-US" sz="36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Concepts Used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937736" y="1472803"/>
            <a:ext cx="4215884" cy="346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Java Concepts Implemented:</a:t>
            </a:r>
            <a:endParaRPr lang="en-US" sz="2150" dirty="0"/>
          </a:p>
        </p:txBody>
      </p:sp>
      <p:sp>
        <p:nvSpPr>
          <p:cNvPr id="4" name="Shape 2"/>
          <p:cNvSpPr/>
          <p:nvPr/>
        </p:nvSpPr>
        <p:spPr>
          <a:xfrm>
            <a:off x="937736" y="2070616"/>
            <a:ext cx="4140041" cy="1761530"/>
          </a:xfrm>
          <a:prstGeom prst="roundRect">
            <a:avLst>
              <a:gd name="adj" fmla="val 1732"/>
            </a:avLst>
          </a:prstGeom>
          <a:solidFill>
            <a:srgbClr val="F2EEEE"/>
          </a:solidFill>
          <a:ln/>
        </p:spPr>
      </p:sp>
      <p:sp>
        <p:nvSpPr>
          <p:cNvPr id="5" name="Shape 3"/>
          <p:cNvSpPr/>
          <p:nvPr/>
        </p:nvSpPr>
        <p:spPr>
          <a:xfrm>
            <a:off x="1140976" y="2273856"/>
            <a:ext cx="609957" cy="609957"/>
          </a:xfrm>
          <a:prstGeom prst="roundRect">
            <a:avLst>
              <a:gd name="adj" fmla="val 14989722"/>
            </a:avLst>
          </a:prstGeom>
          <a:solidFill>
            <a:srgbClr val="000000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08735" y="2441615"/>
            <a:ext cx="274439" cy="27443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40976" y="3051215"/>
            <a:ext cx="3733562" cy="5776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2D2E34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Inheritance </a:t>
            </a:r>
            <a:r>
              <a:rPr lang="en-US" sz="18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→ </a:t>
            </a:r>
            <a:r>
              <a:rPr lang="en-US" sz="1800" b="1" dirty="0">
                <a:solidFill>
                  <a:srgbClr val="80808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Room → Single/Double/Suite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5245179" y="2070616"/>
            <a:ext cx="4140041" cy="1761530"/>
          </a:xfrm>
          <a:prstGeom prst="roundRect">
            <a:avLst>
              <a:gd name="adj" fmla="val 1732"/>
            </a:avLst>
          </a:prstGeom>
          <a:solidFill>
            <a:srgbClr val="F2EEEE"/>
          </a:solidFill>
          <a:ln/>
        </p:spPr>
      </p:sp>
      <p:sp>
        <p:nvSpPr>
          <p:cNvPr id="9" name="Shape 6"/>
          <p:cNvSpPr/>
          <p:nvPr/>
        </p:nvSpPr>
        <p:spPr>
          <a:xfrm>
            <a:off x="5448419" y="2273856"/>
            <a:ext cx="609957" cy="609957"/>
          </a:xfrm>
          <a:prstGeom prst="roundRect">
            <a:avLst>
              <a:gd name="adj" fmla="val 14989722"/>
            </a:avLst>
          </a:prstGeom>
          <a:solidFill>
            <a:srgbClr val="2D2E34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616178" y="2441615"/>
            <a:ext cx="274439" cy="274439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448419" y="3051215"/>
            <a:ext cx="3733562" cy="5776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2D2E34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Polymorphism</a:t>
            </a:r>
            <a:r>
              <a:rPr lang="en-US" sz="18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 → </a:t>
            </a:r>
            <a:r>
              <a:rPr lang="en-US" sz="1800" b="1" dirty="0">
                <a:solidFill>
                  <a:srgbClr val="80808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Different room behaviors</a:t>
            </a:r>
            <a:endParaRPr lang="en-US" sz="1800" dirty="0"/>
          </a:p>
        </p:txBody>
      </p:sp>
      <p:sp>
        <p:nvSpPr>
          <p:cNvPr id="12" name="Shape 8"/>
          <p:cNvSpPr/>
          <p:nvPr/>
        </p:nvSpPr>
        <p:spPr>
          <a:xfrm>
            <a:off x="9552623" y="2070616"/>
            <a:ext cx="4140041" cy="1761530"/>
          </a:xfrm>
          <a:prstGeom prst="roundRect">
            <a:avLst>
              <a:gd name="adj" fmla="val 1732"/>
            </a:avLst>
          </a:prstGeom>
          <a:solidFill>
            <a:srgbClr val="F2EEEE"/>
          </a:solidFill>
          <a:ln/>
        </p:spPr>
      </p:sp>
      <p:sp>
        <p:nvSpPr>
          <p:cNvPr id="13" name="Shape 9"/>
          <p:cNvSpPr/>
          <p:nvPr/>
        </p:nvSpPr>
        <p:spPr>
          <a:xfrm>
            <a:off x="9755862" y="2273856"/>
            <a:ext cx="609957" cy="609957"/>
          </a:xfrm>
          <a:prstGeom prst="roundRect">
            <a:avLst>
              <a:gd name="adj" fmla="val 14989722"/>
            </a:avLst>
          </a:prstGeom>
          <a:solidFill>
            <a:srgbClr val="2D2E34"/>
          </a:solidFill>
          <a:ln/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923621" y="2441615"/>
            <a:ext cx="274439" cy="274439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9755862" y="3051215"/>
            <a:ext cx="3733562" cy="5776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2D2E34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Inner Class</a:t>
            </a:r>
            <a:r>
              <a:rPr lang="en-US" sz="18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 → </a:t>
            </a:r>
            <a:r>
              <a:rPr lang="en-US" sz="1800" b="1" dirty="0">
                <a:solidFill>
                  <a:srgbClr val="80808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Reservation inside manager</a:t>
            </a:r>
            <a:endParaRPr lang="en-US" sz="1800" dirty="0"/>
          </a:p>
        </p:txBody>
      </p:sp>
      <p:sp>
        <p:nvSpPr>
          <p:cNvPr id="16" name="Shape 11"/>
          <p:cNvSpPr/>
          <p:nvPr/>
        </p:nvSpPr>
        <p:spPr>
          <a:xfrm>
            <a:off x="937736" y="3999548"/>
            <a:ext cx="4140041" cy="1761530"/>
          </a:xfrm>
          <a:prstGeom prst="roundRect">
            <a:avLst>
              <a:gd name="adj" fmla="val 1732"/>
            </a:avLst>
          </a:prstGeom>
          <a:solidFill>
            <a:srgbClr val="F2EEEE"/>
          </a:solidFill>
          <a:ln/>
        </p:spPr>
      </p:sp>
      <p:sp>
        <p:nvSpPr>
          <p:cNvPr id="17" name="Shape 12"/>
          <p:cNvSpPr/>
          <p:nvPr/>
        </p:nvSpPr>
        <p:spPr>
          <a:xfrm>
            <a:off x="1140976" y="4202787"/>
            <a:ext cx="609957" cy="609957"/>
          </a:xfrm>
          <a:prstGeom prst="roundRect">
            <a:avLst>
              <a:gd name="adj" fmla="val 14989722"/>
            </a:avLst>
          </a:prstGeom>
          <a:solidFill>
            <a:srgbClr val="2D2E34"/>
          </a:solidFill>
          <a:ln/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308735" y="4370546"/>
            <a:ext cx="274439" cy="274439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140976" y="4980146"/>
            <a:ext cx="3733562" cy="5776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2D2E34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Exception Handling</a:t>
            </a:r>
            <a:r>
              <a:rPr lang="en-US" sz="18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 → </a:t>
            </a:r>
            <a:r>
              <a:rPr lang="en-US" sz="1800" b="1" dirty="0">
                <a:solidFill>
                  <a:srgbClr val="80808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Booking errors</a:t>
            </a:r>
            <a:endParaRPr lang="en-US" sz="1800" dirty="0"/>
          </a:p>
        </p:txBody>
      </p:sp>
      <p:sp>
        <p:nvSpPr>
          <p:cNvPr id="20" name="Shape 14"/>
          <p:cNvSpPr/>
          <p:nvPr/>
        </p:nvSpPr>
        <p:spPr>
          <a:xfrm>
            <a:off x="5245179" y="3999548"/>
            <a:ext cx="4140041" cy="1761530"/>
          </a:xfrm>
          <a:prstGeom prst="roundRect">
            <a:avLst>
              <a:gd name="adj" fmla="val 1732"/>
            </a:avLst>
          </a:prstGeom>
          <a:solidFill>
            <a:srgbClr val="F2EEEE"/>
          </a:solidFill>
          <a:ln/>
        </p:spPr>
      </p:sp>
      <p:sp>
        <p:nvSpPr>
          <p:cNvPr id="21" name="Shape 15"/>
          <p:cNvSpPr/>
          <p:nvPr/>
        </p:nvSpPr>
        <p:spPr>
          <a:xfrm>
            <a:off x="5448419" y="4202787"/>
            <a:ext cx="609957" cy="609957"/>
          </a:xfrm>
          <a:prstGeom prst="roundRect">
            <a:avLst>
              <a:gd name="adj" fmla="val 14989722"/>
            </a:avLst>
          </a:prstGeom>
          <a:solidFill>
            <a:srgbClr val="2D2E34"/>
          </a:solidFill>
          <a:ln/>
        </p:spPr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616178" y="4370546"/>
            <a:ext cx="274439" cy="274439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5448419" y="4980146"/>
            <a:ext cx="3733562" cy="5776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2D2E34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Threading</a:t>
            </a:r>
            <a:r>
              <a:rPr lang="en-US" sz="18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 → </a:t>
            </a:r>
            <a:r>
              <a:rPr lang="en-US" sz="1800" b="1" dirty="0">
                <a:solidFill>
                  <a:srgbClr val="80808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Multiple users booking</a:t>
            </a:r>
            <a:endParaRPr lang="en-US" sz="1800" dirty="0"/>
          </a:p>
        </p:txBody>
      </p:sp>
      <p:sp>
        <p:nvSpPr>
          <p:cNvPr id="24" name="Shape 17"/>
          <p:cNvSpPr/>
          <p:nvPr/>
        </p:nvSpPr>
        <p:spPr>
          <a:xfrm>
            <a:off x="9552623" y="3999548"/>
            <a:ext cx="4140041" cy="1761530"/>
          </a:xfrm>
          <a:prstGeom prst="roundRect">
            <a:avLst>
              <a:gd name="adj" fmla="val 1732"/>
            </a:avLst>
          </a:prstGeom>
          <a:solidFill>
            <a:srgbClr val="F2EEEE"/>
          </a:solidFill>
          <a:ln/>
        </p:spPr>
      </p:sp>
      <p:sp>
        <p:nvSpPr>
          <p:cNvPr id="25" name="Shape 18"/>
          <p:cNvSpPr/>
          <p:nvPr/>
        </p:nvSpPr>
        <p:spPr>
          <a:xfrm>
            <a:off x="9755862" y="4202787"/>
            <a:ext cx="609957" cy="609957"/>
          </a:xfrm>
          <a:prstGeom prst="roundRect">
            <a:avLst>
              <a:gd name="adj" fmla="val 14989722"/>
            </a:avLst>
          </a:prstGeom>
          <a:solidFill>
            <a:srgbClr val="2D2E34"/>
          </a:solidFill>
          <a:ln/>
        </p:spPr>
      </p:sp>
      <p:pic>
        <p:nvPicPr>
          <p:cNvPr id="26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923621" y="4370546"/>
            <a:ext cx="274439" cy="274439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9755862" y="4980146"/>
            <a:ext cx="3630097" cy="2888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2D2E34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Collections API</a:t>
            </a:r>
            <a:r>
              <a:rPr lang="en-US" sz="18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 → </a:t>
            </a:r>
            <a:r>
              <a:rPr lang="en-US" sz="1800" b="1" dirty="0">
                <a:solidFill>
                  <a:srgbClr val="80808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List &amp; Queue</a:t>
            </a:r>
            <a:endParaRPr lang="en-US" sz="1800" dirty="0"/>
          </a:p>
        </p:txBody>
      </p:sp>
      <p:sp>
        <p:nvSpPr>
          <p:cNvPr id="28" name="Shape 20"/>
          <p:cNvSpPr/>
          <p:nvPr/>
        </p:nvSpPr>
        <p:spPr>
          <a:xfrm>
            <a:off x="937736" y="5928479"/>
            <a:ext cx="12754927" cy="1472684"/>
          </a:xfrm>
          <a:prstGeom prst="roundRect">
            <a:avLst>
              <a:gd name="adj" fmla="val 2071"/>
            </a:avLst>
          </a:prstGeom>
          <a:solidFill>
            <a:srgbClr val="F2EEEE"/>
          </a:solidFill>
          <a:ln/>
        </p:spPr>
      </p:sp>
      <p:sp>
        <p:nvSpPr>
          <p:cNvPr id="29" name="Shape 21"/>
          <p:cNvSpPr/>
          <p:nvPr/>
        </p:nvSpPr>
        <p:spPr>
          <a:xfrm>
            <a:off x="1140976" y="6131719"/>
            <a:ext cx="609957" cy="609957"/>
          </a:xfrm>
          <a:prstGeom prst="roundRect">
            <a:avLst>
              <a:gd name="adj" fmla="val 14989722"/>
            </a:avLst>
          </a:prstGeom>
          <a:solidFill>
            <a:srgbClr val="2D2E34"/>
          </a:solidFill>
          <a:ln/>
        </p:spPr>
      </p:sp>
      <p:pic>
        <p:nvPicPr>
          <p:cNvPr id="30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308735" y="6299478"/>
            <a:ext cx="274439" cy="274439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1140976" y="6909078"/>
            <a:ext cx="3668316" cy="2888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2D2E34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File Handling</a:t>
            </a:r>
            <a:r>
              <a:rPr lang="en-US" sz="18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 → </a:t>
            </a:r>
            <a:r>
              <a:rPr lang="en-US" sz="1800" b="1" dirty="0">
                <a:solidFill>
                  <a:srgbClr val="80808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Save/load data</a:t>
            </a:r>
            <a:endParaRPr lang="en-US" sz="1800" dirty="0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114B0E6E-0AB8-BA52-75AB-3226440294B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820851" y="7707218"/>
            <a:ext cx="1749067" cy="41912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3798" y="777954"/>
            <a:ext cx="7263170" cy="701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Implementation &amp; Demo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863798" y="1577935"/>
            <a:ext cx="3464719" cy="4206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Key Functionalities:</a:t>
            </a:r>
            <a:endParaRPr lang="en-US" sz="2650" dirty="0"/>
          </a:p>
        </p:txBody>
      </p:sp>
      <p:sp>
        <p:nvSpPr>
          <p:cNvPr id="4" name="Text 2"/>
          <p:cNvSpPr/>
          <p:nvPr/>
        </p:nvSpPr>
        <p:spPr>
          <a:xfrm>
            <a:off x="863798" y="2368748"/>
            <a:ext cx="12902803" cy="17396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900"/>
              </a:lnSpc>
              <a:buSzPct val="100000"/>
              <a:buChar char="•"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Book a room</a:t>
            </a:r>
            <a:endParaRPr lang="en-US" sz="1900" dirty="0"/>
          </a:p>
          <a:p>
            <a:pPr marL="342900" indent="-342900" algn="l">
              <a:lnSpc>
                <a:spcPts val="2900"/>
              </a:lnSpc>
              <a:buSzPct val="100000"/>
              <a:buChar char="•"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Cancel booking</a:t>
            </a:r>
            <a:endParaRPr lang="en-US" sz="1900" dirty="0"/>
          </a:p>
          <a:p>
            <a:pPr marL="342900" indent="-342900" algn="l">
              <a:lnSpc>
                <a:spcPts val="2900"/>
              </a:lnSpc>
              <a:buSzPct val="100000"/>
              <a:buChar char="•"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Check availability</a:t>
            </a:r>
            <a:endParaRPr lang="en-US" sz="1900" dirty="0"/>
          </a:p>
          <a:p>
            <a:pPr marL="342900" indent="-342900" algn="l">
              <a:lnSpc>
                <a:spcPts val="2900"/>
              </a:lnSpc>
              <a:buSzPct val="100000"/>
              <a:buChar char="•"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Waitlist management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863798" y="4478536"/>
            <a:ext cx="5501997" cy="4206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Demo Explanation (say in viva):</a:t>
            </a:r>
            <a:endParaRPr lang="en-US" sz="26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798" y="5269349"/>
            <a:ext cx="4300895" cy="98726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10615" y="6503432"/>
            <a:ext cx="3807262" cy="701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Two users try booking same room</a:t>
            </a:r>
            <a:endParaRPr lang="en-US" sz="22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64693" y="5269349"/>
            <a:ext cx="4300895" cy="98726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411510" y="6503432"/>
            <a:ext cx="2804874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One gets booking</a:t>
            </a:r>
            <a:endParaRPr lang="en-US" sz="22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65588" y="5269349"/>
            <a:ext cx="4301014" cy="987266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712404" y="6503432"/>
            <a:ext cx="3173016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Other goes to waitlist</a:t>
            </a:r>
            <a:endParaRPr lang="en-US" sz="22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A12D0FB-64E9-DED7-9B03-18C8F63D890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820851" y="7707218"/>
            <a:ext cx="1749067" cy="41912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3798" y="2751058"/>
            <a:ext cx="5609749" cy="701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Conclusion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863798" y="3551039"/>
            <a:ext cx="3365778" cy="4206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Conclusion:</a:t>
            </a:r>
            <a:endParaRPr lang="en-US" sz="2650" dirty="0"/>
          </a:p>
        </p:txBody>
      </p:sp>
      <p:sp>
        <p:nvSpPr>
          <p:cNvPr id="4" name="Shape 2"/>
          <p:cNvSpPr/>
          <p:nvPr/>
        </p:nvSpPr>
        <p:spPr>
          <a:xfrm>
            <a:off x="863798" y="4341852"/>
            <a:ext cx="555308" cy="555308"/>
          </a:xfrm>
          <a:prstGeom prst="roundRect">
            <a:avLst>
              <a:gd name="adj" fmla="val 6667"/>
            </a:avLst>
          </a:prstGeom>
          <a:solidFill>
            <a:srgbClr val="F2EEEE"/>
          </a:solidFill>
          <a:ln/>
        </p:spPr>
      </p:sp>
      <p:sp>
        <p:nvSpPr>
          <p:cNvPr id="5" name="Text 3"/>
          <p:cNvSpPr/>
          <p:nvPr/>
        </p:nvSpPr>
        <p:spPr>
          <a:xfrm>
            <a:off x="973217" y="4409182"/>
            <a:ext cx="336471" cy="4206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1</a:t>
            </a:r>
            <a:endParaRPr lang="en-US" sz="2650" dirty="0"/>
          </a:p>
        </p:txBody>
      </p:sp>
      <p:sp>
        <p:nvSpPr>
          <p:cNvPr id="6" name="Text 4"/>
          <p:cNvSpPr/>
          <p:nvPr/>
        </p:nvSpPr>
        <p:spPr>
          <a:xfrm>
            <a:off x="1665923" y="4426625"/>
            <a:ext cx="3293150" cy="10519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Successfully developed a hotel booking system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267563" y="4341852"/>
            <a:ext cx="555308" cy="555308"/>
          </a:xfrm>
          <a:prstGeom prst="roundRect">
            <a:avLst>
              <a:gd name="adj" fmla="val 6667"/>
            </a:avLst>
          </a:prstGeom>
          <a:solidFill>
            <a:srgbClr val="F2EEEE"/>
          </a:solidFill>
          <a:ln/>
        </p:spPr>
      </p:sp>
      <p:sp>
        <p:nvSpPr>
          <p:cNvPr id="8" name="Text 6"/>
          <p:cNvSpPr/>
          <p:nvPr/>
        </p:nvSpPr>
        <p:spPr>
          <a:xfrm>
            <a:off x="5376982" y="4409182"/>
            <a:ext cx="336471" cy="4206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2</a:t>
            </a:r>
            <a:endParaRPr lang="en-US" sz="2650" dirty="0"/>
          </a:p>
        </p:txBody>
      </p:sp>
      <p:sp>
        <p:nvSpPr>
          <p:cNvPr id="9" name="Text 7"/>
          <p:cNvSpPr/>
          <p:nvPr/>
        </p:nvSpPr>
        <p:spPr>
          <a:xfrm>
            <a:off x="6069687" y="4426625"/>
            <a:ext cx="3293150" cy="701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Applied core Java concepts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9671328" y="4341852"/>
            <a:ext cx="555308" cy="555308"/>
          </a:xfrm>
          <a:prstGeom prst="roundRect">
            <a:avLst>
              <a:gd name="adj" fmla="val 6667"/>
            </a:avLst>
          </a:prstGeom>
          <a:solidFill>
            <a:srgbClr val="F2EEEE"/>
          </a:solidFill>
          <a:ln/>
        </p:spPr>
      </p:sp>
      <p:sp>
        <p:nvSpPr>
          <p:cNvPr id="11" name="Text 9"/>
          <p:cNvSpPr/>
          <p:nvPr/>
        </p:nvSpPr>
        <p:spPr>
          <a:xfrm>
            <a:off x="9780746" y="4409182"/>
            <a:ext cx="336471" cy="4206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3</a:t>
            </a:r>
            <a:endParaRPr lang="en-US" sz="2650" dirty="0"/>
          </a:p>
        </p:txBody>
      </p:sp>
      <p:sp>
        <p:nvSpPr>
          <p:cNvPr id="12" name="Text 10"/>
          <p:cNvSpPr/>
          <p:nvPr/>
        </p:nvSpPr>
        <p:spPr>
          <a:xfrm>
            <a:off x="10473452" y="4426625"/>
            <a:ext cx="3293150" cy="10519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Improved understanding of real-world applications</a:t>
            </a:r>
            <a:endParaRPr lang="en-US" sz="220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9DD13A79-F73C-648E-E8D6-8D08C33E6A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20851" y="7707218"/>
            <a:ext cx="1749067" cy="41912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392C23F-647F-8C96-EC11-6FAF90381B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20851" y="7707218"/>
            <a:ext cx="1749067" cy="4191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86781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256</Words>
  <Application>Microsoft Office PowerPoint</Application>
  <PresentationFormat>Custom</PresentationFormat>
  <Paragraphs>76</Paragraphs>
  <Slides>9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Source Sans 3</vt:lpstr>
      <vt:lpstr>Arial</vt:lpstr>
      <vt:lpstr>Montserrat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Bhavya Patel</cp:lastModifiedBy>
  <cp:revision>2</cp:revision>
  <dcterms:created xsi:type="dcterms:W3CDTF">2026-03-31T05:31:09Z</dcterms:created>
  <dcterms:modified xsi:type="dcterms:W3CDTF">2026-03-31T05:43:25Z</dcterms:modified>
</cp:coreProperties>
</file>